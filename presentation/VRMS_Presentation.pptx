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3200</c:v>
                </c:pt>
                <c:pt idx="1">
                  <c:v>3450</c:v>
                </c:pt>
                <c:pt idx="2">
                  <c:v>3100</c:v>
                </c:pt>
                <c:pt idx="3">
                  <c:v>3800</c:v>
                </c:pt>
                <c:pt idx="4">
                  <c:v>4200</c:v>
                </c:pt>
                <c:pt idx="5">
                  <c:v>4650</c:v>
                </c:pt>
                <c:pt idx="6">
                  <c:v>4900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image" Target="../media/image-4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vrms/icon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— DATABASE PROGRAMMING (ORACLE)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Rental Management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System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Oracle-based system for fleet operations: reservations, rentals, payments, maintenance, and multi-branch reporting.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3108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Credo Darwin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31882/2025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– Database Programming (Oracle)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Context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vrm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192709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rental operations rely on spreadsheets and paper logs, creating recurring operational risk.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3375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1729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 — the same vehicle reserved by two customers at once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1148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9502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maintenance — no reliable schedule or history tracking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8920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7274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misreporting — payments not reconciled across branches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</p:spPr>
      </p:sp>
      <p:sp>
        <p:nvSpPr>
          <p:cNvPr id="15" name="Shape 12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vrms/icon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418" y="192709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5236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29400" y="2606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vehicle rental operations running across multiple branches, where information does not currently flow between locations.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9400" y="3794760"/>
            <a:ext cx="42519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29400" y="40416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7"/>
          <p:cNvSpPr/>
          <p:nvPr/>
        </p:nvSpPr>
        <p:spPr>
          <a:xfrm>
            <a:off x="6903720" y="3886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branches, one fleet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29400" y="47274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4572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clerks handling live bookings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29400" y="54132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52578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accounts teams needing shared, accurate data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vrm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Oracle Database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clean, 3NF schema for the full rental workflow.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vrm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&amp; Triggers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2044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business logic and enforce data integrity automatically.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vrms/icon_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0436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0936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key changes for accountability and traceability.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vrms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444" y="20436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Dashboard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9828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insights via Power BI / Oracle APEX.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ENTITIES COVERED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43484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4348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1956816" y="4434840"/>
            <a:ext cx="112014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2"/>
          <p:cNvSpPr/>
          <p:nvPr/>
        </p:nvSpPr>
        <p:spPr>
          <a:xfrm>
            <a:off x="1956816" y="4434840"/>
            <a:ext cx="1120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3259836" y="4434840"/>
            <a:ext cx="1330452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0" name="Text 24"/>
          <p:cNvSpPr/>
          <p:nvPr/>
        </p:nvSpPr>
        <p:spPr>
          <a:xfrm>
            <a:off x="3259836" y="4434840"/>
            <a:ext cx="13304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4773168" y="443484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Text 26"/>
          <p:cNvSpPr/>
          <p:nvPr/>
        </p:nvSpPr>
        <p:spPr>
          <a:xfrm>
            <a:off x="4773168" y="44348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181344" y="443484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4" name="Text 28"/>
          <p:cNvSpPr/>
          <p:nvPr/>
        </p:nvSpPr>
        <p:spPr>
          <a:xfrm>
            <a:off x="6181344" y="4434840"/>
            <a:ext cx="15407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7904988" y="443484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6" name="Text 30"/>
          <p:cNvSpPr/>
          <p:nvPr/>
        </p:nvSpPr>
        <p:spPr>
          <a:xfrm>
            <a:off x="7904988" y="443484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9313164" y="4434840"/>
            <a:ext cx="90982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8" name="Text 32"/>
          <p:cNvSpPr/>
          <p:nvPr/>
        </p:nvSpPr>
        <p:spPr>
          <a:xfrm>
            <a:off x="9313164" y="4434840"/>
            <a:ext cx="9098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548640" y="5001768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0" name="Text 34"/>
          <p:cNvSpPr/>
          <p:nvPr/>
        </p:nvSpPr>
        <p:spPr>
          <a:xfrm>
            <a:off x="548640" y="5001768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vrm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19831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64592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9" name="Shape 6"/>
          <p:cNvSpPr/>
          <p:nvPr/>
        </p:nvSpPr>
        <p:spPr>
          <a:xfrm>
            <a:off x="356616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vrms/icon_cle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65" y="198310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1828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Clerk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164592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13" name="Shape 9"/>
          <p:cNvSpPr/>
          <p:nvPr/>
        </p:nvSpPr>
        <p:spPr>
          <a:xfrm>
            <a:off x="635508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vrms/icon_fle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85" y="1983105"/>
            <a:ext cx="377190" cy="377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1828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915400" y="164592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vrms/icon_account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305" y="198310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966960" y="1828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-899312" y="35661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-309524" y="3730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7"/>
          <p:cNvSpPr/>
          <p:nvPr/>
        </p:nvSpPr>
        <p:spPr>
          <a:xfrm>
            <a:off x="-309524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-853592" y="4343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150" dirty="0"/>
          </a:p>
        </p:txBody>
      </p:sp>
      <p:pic>
        <p:nvPicPr>
          <p:cNvPr id="25" name="Image 4" descr="/home/claude/vrms/icon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96" y="4206240"/>
            <a:ext cx="36576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560424" y="35661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2150212" y="3730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1"/>
          <p:cNvSpPr/>
          <p:nvPr/>
        </p:nvSpPr>
        <p:spPr>
          <a:xfrm>
            <a:off x="2150212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606144" y="4343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Pickup</a:t>
            </a:r>
            <a:endParaRPr lang="en-US" sz="1150" dirty="0"/>
          </a:p>
        </p:txBody>
      </p:sp>
      <p:pic>
        <p:nvPicPr>
          <p:cNvPr id="30" name="Image 5" descr="/home/claude/vrms/icon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3232" y="4206240"/>
            <a:ext cx="36576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4020160" y="35661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609948" y="3730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5"/>
          <p:cNvSpPr/>
          <p:nvPr/>
        </p:nvSpPr>
        <p:spPr>
          <a:xfrm>
            <a:off x="460994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065880" y="4343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Active</a:t>
            </a:r>
            <a:endParaRPr lang="en-US" sz="1150" dirty="0"/>
          </a:p>
        </p:txBody>
      </p:sp>
      <p:pic>
        <p:nvPicPr>
          <p:cNvPr id="35" name="Image 6" descr="/home/claude/vrms/icon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2968" y="4206240"/>
            <a:ext cx="365760" cy="27432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479896" y="35661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069684" y="3730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29"/>
          <p:cNvSpPr/>
          <p:nvPr/>
        </p:nvSpPr>
        <p:spPr>
          <a:xfrm>
            <a:off x="7069684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525616" y="4343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50" dirty="0"/>
          </a:p>
        </p:txBody>
      </p:sp>
      <p:pic>
        <p:nvPicPr>
          <p:cNvPr id="40" name="Image 7" descr="/home/claude/vrms/icon_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704" y="4206240"/>
            <a:ext cx="365760" cy="27432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8939632" y="35661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9529420" y="3730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3"/>
          <p:cNvSpPr/>
          <p:nvPr/>
        </p:nvSpPr>
        <p:spPr>
          <a:xfrm>
            <a:off x="9529420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8985352" y="4343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Rental</a:t>
            </a:r>
            <a:endParaRPr lang="en-US" sz="1150" dirty="0"/>
          </a:p>
        </p:txBody>
      </p:sp>
      <p:pic>
        <p:nvPicPr>
          <p:cNvPr id="45" name="Image 8" descr="/home/claude/vrms/icon_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2440" y="4206240"/>
            <a:ext cx="365760" cy="274320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11399368" y="356616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11989156" y="3730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Text 37"/>
          <p:cNvSpPr/>
          <p:nvPr/>
        </p:nvSpPr>
        <p:spPr>
          <a:xfrm>
            <a:off x="11989156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38"/>
          <p:cNvSpPr/>
          <p:nvPr/>
        </p:nvSpPr>
        <p:spPr>
          <a:xfrm>
            <a:off x="11445088" y="4343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to payment reconciliation flows end-to-end through the database, so every status change is captured once and reused everywhere.</a:t>
            </a:r>
            <a:endParaRPr lang="en-US" sz="1250" dirty="0"/>
          </a:p>
        </p:txBody>
      </p:sp>
      <p:sp>
        <p:nvSpPr>
          <p:cNvPr id="51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sits at the center, linking customers, vehicles, branches, payments and maintenance.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31620" y="1943100"/>
            <a:ext cx="4564228" cy="15316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9100" y="1943100"/>
            <a:ext cx="1866748" cy="15316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1943100"/>
            <a:ext cx="160020" cy="15316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1943100"/>
            <a:ext cx="3665372" cy="15316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95848" y="3474720"/>
            <a:ext cx="3665372" cy="13487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5848" y="3474720"/>
            <a:ext cx="160020" cy="24003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9100" y="3474720"/>
            <a:ext cx="1866748" cy="13487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1620" y="3474720"/>
            <a:ext cx="4564228" cy="13487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0008" y="30632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90008" y="3063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1600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6002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16002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72888" y="1600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72888" y="16002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78240" y="1600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0" y="16002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78240" y="44805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0" y="4480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72888" y="553212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72888" y="5532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46120" y="44805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4480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480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Staff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Implementation — Database &amp; PL/SQL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vrm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59" y="200367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733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(3NF)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74520" y="21031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created with primary/foreign keys and check constraints, eliminating redundancy and update anomalies across the schema.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3639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45643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vrms/icon_r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" y="3631311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3300984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business_rules_pkg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874520" y="3730752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PL/SQL package that enforces DML restrictions — validating status transitions and blocking illegal writes before they reach the tables.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764024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5084064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vrms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5258943"/>
            <a:ext cx="427482" cy="4274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928616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business_logic_pkg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874520" y="5358384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create_rental, close_rental and supporting calculations, so rental math and status changes live in one governed place.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vrms/icon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0596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Trigger-Based Audit Log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is populated automatically by triggers on key tables, capturing who changed what and when — no application code required.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vrms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06" y="2059686"/>
            <a:ext cx="452628" cy="4526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Separation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17720" y="361188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read-only role serves dashboards and reporting tools, while a separate application user handles transactional writes.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065A82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vrms/icon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366" y="2059686"/>
            <a:ext cx="452628" cy="4526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Privilege Separation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12480" y="361188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user-provisioning scripts grant only the privileges each role needs, keeping the principle of least privilege enforceable and repeatable.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Innovation: 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77640" cy="466344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vrms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2722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across all branches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vrms/icon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31866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0449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54480" y="33375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usage rate by vehicle class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68680" y="3977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vrms/icon_c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10108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9593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Vehicles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554480" y="42519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Highest-earning vehicles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68680" y="4892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vrms/icon_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01548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8737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Rentals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554480" y="5166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rentals per branch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68680" y="5715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Refreshable dataset via a native Oracle connector keeps every visual current.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754880" y="1463040"/>
            <a:ext cx="68580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074920" y="1691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— All Branches (RWF, thousands)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029200" y="2148840"/>
          <a:ext cx="6309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hape 18"/>
          <p:cNvSpPr/>
          <p:nvPr/>
        </p:nvSpPr>
        <p:spPr>
          <a:xfrm>
            <a:off x="5029200" y="47091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/>
        </p:spPr>
      </p:sp>
      <p:sp>
        <p:nvSpPr>
          <p:cNvPr id="26" name="Text 19"/>
          <p:cNvSpPr/>
          <p:nvPr/>
        </p:nvSpPr>
        <p:spPr>
          <a:xfrm>
            <a:off x="5029200" y="4800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Branches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5029200" y="5303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live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178040" y="47091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/>
        </p:spPr>
      </p:sp>
      <p:sp>
        <p:nvSpPr>
          <p:cNvPr id="29" name="Text 22"/>
          <p:cNvSpPr/>
          <p:nvPr/>
        </p:nvSpPr>
        <p:spPr>
          <a:xfrm>
            <a:off x="7178040" y="4800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7178040" y="5303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utilization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9326880" y="47091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4F8FA"/>
          </a:solidFill>
          <a:ln/>
        </p:spPr>
      </p:sp>
      <p:sp>
        <p:nvSpPr>
          <p:cNvPr id="32" name="Text 25"/>
          <p:cNvSpPr/>
          <p:nvPr/>
        </p:nvSpPr>
        <p:spPr>
          <a:xfrm>
            <a:off x="9326880" y="4800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9326880" y="5303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cadence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Screenshots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below — drop in your schema, query-output, and dashboard captures.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9050">
            <a:solidFill>
              <a:srgbClr val="D7E2E8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3063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2103120" y="26517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vrm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573" y="2847213"/>
            <a:ext cx="477774" cy="477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Screenshot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Developer / Data Modeler view of the full table structure.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9050">
            <a:solidFill>
              <a:srgbClr val="D7E2E8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874520"/>
            <a:ext cx="3063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</p:spPr>
      </p:sp>
      <p:sp>
        <p:nvSpPr>
          <p:cNvPr id="13" name="Shape 10"/>
          <p:cNvSpPr/>
          <p:nvPr/>
        </p:nvSpPr>
        <p:spPr>
          <a:xfrm>
            <a:off x="5897880" y="26517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/home/claude/vrm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333" y="2847213"/>
            <a:ext cx="477774" cy="4777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794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1772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 Output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17720" y="47548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key PL/SQL procedures and reporting queries.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600200"/>
            <a:ext cx="3611880" cy="43434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9050">
            <a:solidFill>
              <a:srgbClr val="D7E2E8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1874520"/>
            <a:ext cx="3063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</p:spPr>
      </p:sp>
      <p:sp>
        <p:nvSpPr>
          <p:cNvPr id="20" name="Shape 16"/>
          <p:cNvSpPr/>
          <p:nvPr/>
        </p:nvSpPr>
        <p:spPr>
          <a:xfrm>
            <a:off x="9692640" y="26517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/home/claude/vrms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093" y="2847213"/>
            <a:ext cx="477774" cy="4777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794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1248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Mockup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12480" y="47548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showing the visuals from the previous slide.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57200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vrm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842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normalized, rule-enforced Oracle database replaces error-prone manual processes.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vrm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" y="2820010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7614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packages and triggers keep business logic and auditing consistent everywhere.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vrm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3597250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5387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Power BI dashboard turns fleet data into daily operating decisions.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37960" y="1508760"/>
            <a:ext cx="5074920" cy="4709160"/>
          </a:xfrm>
          <a:prstGeom prst="roundRect">
            <a:avLst>
              <a:gd name="adj" fmla="val 2330"/>
            </a:avLst>
          </a:prstGeom>
          <a:solidFill>
            <a:srgbClr val="065A82"/>
          </a:solidFill>
          <a:ln/>
        </p:spPr>
      </p:sp>
      <p:sp>
        <p:nvSpPr>
          <p:cNvPr id="16" name="Shape 11"/>
          <p:cNvSpPr/>
          <p:nvPr/>
        </p:nvSpPr>
        <p:spPr>
          <a:xfrm>
            <a:off x="685800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vrms/icon_flagFini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927098"/>
            <a:ext cx="352044" cy="3520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6858000" y="2651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20" name="Text 14"/>
          <p:cNvSpPr/>
          <p:nvPr/>
        </p:nvSpPr>
        <p:spPr>
          <a:xfrm>
            <a:off x="68580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406640" y="26334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Oracle APEX pages for day-to-day use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858000" y="3520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23" name="Text 17"/>
          <p:cNvSpPr/>
          <p:nvPr/>
        </p:nvSpPr>
        <p:spPr>
          <a:xfrm>
            <a:off x="685800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06640" y="35021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reporting beyond the core Power BI visuals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858000" y="4389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685800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406640" y="43708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automated database backups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Management Information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2026-07-26T00:47:04Z</dcterms:created>
  <dcterms:modified xsi:type="dcterms:W3CDTF">2026-07-26T00:47:04Z</dcterms:modified>
</cp:coreProperties>
</file>