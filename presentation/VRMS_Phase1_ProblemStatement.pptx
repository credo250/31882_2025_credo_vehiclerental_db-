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3.png"/><Relationship Id="rId6" Type="http://schemas.openxmlformats.org/officeDocument/2006/relationships/image" Target="../media/image-3-3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94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I — PROBLEM STATEMENT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Vehicle Rental Management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Information System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1089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2461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vrms_phase1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" y="3420999"/>
            <a:ext cx="427482" cy="4274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33649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4160520"/>
            <a:ext cx="10515600" cy="2148840"/>
          </a:xfrm>
          <a:prstGeom prst="roundRect">
            <a:avLst>
              <a:gd name="adj" fmla="val 5106"/>
            </a:avLst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4389120"/>
            <a:ext cx="9784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Local vehicle rental operators struggle with manual tracking of vehicle availability, bookings, maintenance history, and billing. This causes double bookings, underused assets, revenue leakage, and delayed maintenance.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I: Problem Statement — Vehicle Rental Management Information System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 &amp; Users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Small-to-medium vehicle rental businesses (branch-based) operating in Kigali and regional centers.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PRIMARY USERS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3580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vrms_phase1/icon_cle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3163367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36393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Branch Clerks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828800" y="303580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vrms_phase1/icon_fle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359" y="3163367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6393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Fleet Manager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108960" y="303580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/home/claude/vrms_phase1/icon_accounta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519" y="3163367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80360" y="36393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Accountants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389120" y="303580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/home/claude/vrms_phase1/icon_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6679" y="3163367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160520" y="36393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Administrators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548640" y="4343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CAPABILITIES REQUIRED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70916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1" name="Text 15"/>
          <p:cNvSpPr/>
          <p:nvPr/>
        </p:nvSpPr>
        <p:spPr>
          <a:xfrm>
            <a:off x="548640" y="470916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Vehicle inventory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2569464" y="470916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3" name="Text 17"/>
          <p:cNvSpPr/>
          <p:nvPr/>
        </p:nvSpPr>
        <p:spPr>
          <a:xfrm>
            <a:off x="2569464" y="4709160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Reservations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5212080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5212080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Rental lifecycle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2478024" y="5212080"/>
            <a:ext cx="2057400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7" name="Text 21"/>
          <p:cNvSpPr/>
          <p:nvPr/>
        </p:nvSpPr>
        <p:spPr>
          <a:xfrm>
            <a:off x="2478024" y="5212080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Maintenance records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681728" y="5212080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9" name="Text 23"/>
          <p:cNvSpPr/>
          <p:nvPr/>
        </p:nvSpPr>
        <p:spPr>
          <a:xfrm>
            <a:off x="4681728" y="5212080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Payments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48640" y="5715000"/>
            <a:ext cx="1325880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1" name="Text 25"/>
          <p:cNvSpPr/>
          <p:nvPr/>
        </p:nvSpPr>
        <p:spPr>
          <a:xfrm>
            <a:off x="548640" y="5715000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 trail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263640" y="1143000"/>
            <a:ext cx="539496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6537960" y="1325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ENTITIES (SIMPLIFIED ER VIEW)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7269480" y="2276856"/>
            <a:ext cx="1691640" cy="147218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 flipV="1">
            <a:off x="8961120" y="2276856"/>
            <a:ext cx="777240" cy="147218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 flipV="1">
            <a:off x="7269480" y="3749040"/>
            <a:ext cx="1691640" cy="1453896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961120" y="3749040"/>
            <a:ext cx="777240" cy="1453896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 flipV="1">
            <a:off x="8961120" y="3739896"/>
            <a:ext cx="1508760" cy="914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8092440" y="342900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8092440" y="34290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RENTALS</a:t>
            </a:r>
            <a:endParaRPr lang="en-US" sz="1250" dirty="0"/>
          </a:p>
        </p:txBody>
      </p:sp>
      <p:sp>
        <p:nvSpPr>
          <p:cNvPr id="41" name="Shape 35"/>
          <p:cNvSpPr/>
          <p:nvPr/>
        </p:nvSpPr>
        <p:spPr>
          <a:xfrm>
            <a:off x="6537960" y="1965960"/>
            <a:ext cx="1463040" cy="621792"/>
          </a:xfrm>
          <a:prstGeom prst="roundRect">
            <a:avLst>
              <a:gd name="adj" fmla="val 10294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537960" y="196596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9006840" y="1965960"/>
            <a:ext cx="1463040" cy="621792"/>
          </a:xfrm>
          <a:prstGeom prst="roundRect">
            <a:avLst>
              <a:gd name="adj" fmla="val 10294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9006840" y="196596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Vehicles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6537960" y="4892040"/>
            <a:ext cx="1463040" cy="621792"/>
          </a:xfrm>
          <a:prstGeom prst="roundRect">
            <a:avLst>
              <a:gd name="adj" fmla="val 10294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6537960" y="489204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Branches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9006840" y="4892040"/>
            <a:ext cx="1463040" cy="621792"/>
          </a:xfrm>
          <a:prstGeom prst="roundRect">
            <a:avLst>
              <a:gd name="adj" fmla="val 10294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9006840" y="489204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Payments</a:t>
            </a:r>
            <a:endParaRPr lang="en-US" sz="1050" dirty="0"/>
          </a:p>
        </p:txBody>
      </p:sp>
      <p:sp>
        <p:nvSpPr>
          <p:cNvPr id="49" name="Shape 43"/>
          <p:cNvSpPr/>
          <p:nvPr/>
        </p:nvSpPr>
        <p:spPr>
          <a:xfrm>
            <a:off x="9738360" y="3429000"/>
            <a:ext cx="1463040" cy="621792"/>
          </a:xfrm>
          <a:prstGeom prst="roundRect">
            <a:avLst>
              <a:gd name="adj" fmla="val 10294"/>
            </a:avLst>
          </a:prstGeom>
          <a:solidFill>
            <a:srgbClr val="F4F8FA"/>
          </a:solidFill>
          <a:ln w="12700">
            <a:solidFill>
              <a:srgbClr val="D7E2E8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9738360" y="342900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Maintenance</a:t>
            </a:r>
            <a:endParaRPr lang="en-US" sz="1050" dirty="0"/>
          </a:p>
        </p:txBody>
      </p:sp>
      <p:sp>
        <p:nvSpPr>
          <p:cNvPr id="51" name="Text 4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I: Problem Statement — Vehicle Rental Management Information System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Objectives &amp; Benefits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155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vrms_phase1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218438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8680" y="167335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54533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a normalized Oracle database for rentals, vehicles, branches, customers, payments, and maintenance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868680" y="213055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00253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 business rules, PL/SQL procedures/packages, and triggers for audit and security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868680" y="258775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245973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Provide analytics-ready outputs for a dashboard or Power BI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6172200" y="9144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11155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1" descr="/home/claude/vrms_phase1/icon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390" y="1218438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4088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BENEFITS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92240" y="16459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vrms_phase1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446" y="1697126"/>
            <a:ext cx="153619" cy="15361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85432" y="164592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Reduce double bookings and data-entry errors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6492240" y="197510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vrms_phase1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446" y="2026310"/>
            <a:ext cx="153619" cy="1536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85432" y="1975104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Improve maintenance scheduling and vehicle uptime</a:t>
            </a:r>
            <a:endParaRPr lang="en-US" sz="1030" dirty="0"/>
          </a:p>
        </p:txBody>
      </p:sp>
      <p:sp>
        <p:nvSpPr>
          <p:cNvPr id="23" name="Shape 17"/>
          <p:cNvSpPr/>
          <p:nvPr/>
        </p:nvSpPr>
        <p:spPr>
          <a:xfrm>
            <a:off x="6492240" y="230428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4" descr="/home/claude/vrms_phase1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446" y="2355494"/>
            <a:ext cx="153619" cy="15361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85432" y="2304288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Provide accurate, consolidated revenue reports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6492240" y="26334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5" descr="/home/claude/vrms_phase1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446" y="2684678"/>
            <a:ext cx="153619" cy="15361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85432" y="263347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71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Enable quick, trigger-backed audits</a:t>
            </a:r>
            <a:endParaRPr lang="en-US" sz="1030" dirty="0"/>
          </a:p>
        </p:txBody>
      </p:sp>
      <p:sp>
        <p:nvSpPr>
          <p:cNvPr id="29" name="Text 21"/>
          <p:cNvSpPr/>
          <p:nvPr/>
        </p:nvSpPr>
        <p:spPr>
          <a:xfrm>
            <a:off x="548640" y="3154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C729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RESERVATION FLOW — SIMPLIFIED SWIMLANE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548640" y="3520440"/>
            <a:ext cx="11109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548640" y="3520440"/>
            <a:ext cx="155448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2" name="Shape 24"/>
          <p:cNvSpPr/>
          <p:nvPr/>
        </p:nvSpPr>
        <p:spPr>
          <a:xfrm>
            <a:off x="685800" y="371703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6" descr="/home/claude/vrms_phase1/icon_us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211" y="3803447"/>
            <a:ext cx="211226" cy="21122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115568" y="35204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</a:t>
            </a:r>
            <a:endParaRPr lang="en-US" sz="950" dirty="0"/>
          </a:p>
        </p:txBody>
      </p:sp>
      <p:sp>
        <p:nvSpPr>
          <p:cNvPr id="35" name="Shape 26"/>
          <p:cNvSpPr/>
          <p:nvPr/>
        </p:nvSpPr>
        <p:spPr>
          <a:xfrm>
            <a:off x="548640" y="4297680"/>
            <a:ext cx="11109960" cy="777240"/>
          </a:xfrm>
          <a:prstGeom prst="rect">
            <a:avLst/>
          </a:prstGeom>
          <a:solidFill>
            <a:srgbClr val="EAF1F4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548640" y="4297680"/>
            <a:ext cx="155448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7" name="Shape 28"/>
          <p:cNvSpPr/>
          <p:nvPr/>
        </p:nvSpPr>
        <p:spPr>
          <a:xfrm>
            <a:off x="685800" y="44942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7" descr="/home/claude/vrms_phase1/icon_cle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211" y="4580687"/>
            <a:ext cx="211226" cy="21122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115568" y="429768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Branch Clerk</a:t>
            </a:r>
            <a:endParaRPr lang="en-US" sz="950" dirty="0"/>
          </a:p>
        </p:txBody>
      </p:sp>
      <p:sp>
        <p:nvSpPr>
          <p:cNvPr id="40" name="Shape 30"/>
          <p:cNvSpPr/>
          <p:nvPr/>
        </p:nvSpPr>
        <p:spPr>
          <a:xfrm>
            <a:off x="548640" y="5074920"/>
            <a:ext cx="11109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548640" y="5074920"/>
            <a:ext cx="155448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2" name="Shape 32"/>
          <p:cNvSpPr/>
          <p:nvPr/>
        </p:nvSpPr>
        <p:spPr>
          <a:xfrm>
            <a:off x="685800" y="527151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8" descr="/home/claude/vrms_phase1/icon_fle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211" y="5357927"/>
            <a:ext cx="211226" cy="211226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1115568" y="50749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Fleet Manager</a:t>
            </a:r>
            <a:endParaRPr lang="en-US" sz="950" dirty="0"/>
          </a:p>
        </p:txBody>
      </p:sp>
      <p:sp>
        <p:nvSpPr>
          <p:cNvPr id="45" name="Shape 34"/>
          <p:cNvSpPr/>
          <p:nvPr/>
        </p:nvSpPr>
        <p:spPr>
          <a:xfrm>
            <a:off x="2240280" y="36576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  <a:effectLst>
            <a:outerShdw sx="100000" sy="100000" kx="0" ky="0" algn="bl" rotWithShape="0" blurRad="50800" dist="12700" dir="5400000">
              <a:srgbClr val="000000">
                <a:alpha val="18000"/>
              </a:srgbClr>
            </a:outerShdw>
          </a:effectLst>
        </p:spPr>
      </p:sp>
      <p:sp>
        <p:nvSpPr>
          <p:cNvPr id="46" name="Text 35"/>
          <p:cNvSpPr/>
          <p:nvPr/>
        </p:nvSpPr>
        <p:spPr>
          <a:xfrm>
            <a:off x="2313432" y="365760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2129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Submit reservation request</a:t>
            </a:r>
            <a:endParaRPr lang="en-US" sz="900" dirty="0"/>
          </a:p>
        </p:txBody>
      </p:sp>
      <p:sp>
        <p:nvSpPr>
          <p:cNvPr id="47" name="Shape 36"/>
          <p:cNvSpPr/>
          <p:nvPr/>
        </p:nvSpPr>
        <p:spPr>
          <a:xfrm>
            <a:off x="4137660" y="44348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  <a:effectLst>
            <a:outerShdw sx="100000" sy="100000" kx="0" ky="0" algn="bl" rotWithShape="0" blurRad="50800" dist="12700" dir="5400000">
              <a:srgbClr val="000000">
                <a:alpha val="18000"/>
              </a:srgbClr>
            </a:outerShdw>
          </a:effectLst>
        </p:spPr>
      </p:sp>
      <p:sp>
        <p:nvSpPr>
          <p:cNvPr id="48" name="Text 37"/>
          <p:cNvSpPr/>
          <p:nvPr/>
        </p:nvSpPr>
        <p:spPr>
          <a:xfrm>
            <a:off x="4210812" y="443484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2129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 vehicle availability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6035040" y="52120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  <a:effectLst>
            <a:outerShdw sx="100000" sy="100000" kx="0" ky="0" algn="bl" rotWithShape="0" blurRad="50800" dist="12700" dir="5400000">
              <a:srgbClr val="000000">
                <a:alpha val="18000"/>
              </a:srgbClr>
            </a:outerShdw>
          </a:effectLst>
        </p:spPr>
      </p:sp>
      <p:sp>
        <p:nvSpPr>
          <p:cNvPr id="50" name="Text 39"/>
          <p:cNvSpPr/>
          <p:nvPr/>
        </p:nvSpPr>
        <p:spPr>
          <a:xfrm>
            <a:off x="6108192" y="521208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2129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Confirm vehicle readiness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7932420" y="44348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  <a:effectLst>
            <a:outerShdw sx="100000" sy="100000" kx="0" ky="0" algn="bl" rotWithShape="0" blurRad="50800" dist="12700" dir="5400000">
              <a:srgbClr val="000000">
                <a:alpha val="18000"/>
              </a:srgbClr>
            </a:outerShdw>
          </a:effectLst>
        </p:spPr>
      </p:sp>
      <p:sp>
        <p:nvSpPr>
          <p:cNvPr id="52" name="Text 41"/>
          <p:cNvSpPr/>
          <p:nvPr/>
        </p:nvSpPr>
        <p:spPr>
          <a:xfrm>
            <a:off x="8005572" y="443484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2129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Confirm booking &amp; notify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9829800" y="36576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  <a:effectLst>
            <a:outerShdw sx="100000" sy="100000" kx="0" ky="0" algn="bl" rotWithShape="0" blurRad="50800" dist="12700" dir="5400000">
              <a:srgbClr val="000000">
                <a:alpha val="18000"/>
              </a:srgbClr>
            </a:outerShdw>
          </a:effectLst>
        </p:spPr>
      </p:sp>
      <p:sp>
        <p:nvSpPr>
          <p:cNvPr id="54" name="Text 43"/>
          <p:cNvSpPr/>
          <p:nvPr/>
        </p:nvSpPr>
        <p:spPr>
          <a:xfrm>
            <a:off x="9902952" y="365760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2129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Receive confirmation</a:t>
            </a:r>
            <a:endParaRPr lang="en-US" sz="900" dirty="0"/>
          </a:p>
        </p:txBody>
      </p:sp>
      <p:sp>
        <p:nvSpPr>
          <p:cNvPr id="55" name="Shape 44"/>
          <p:cNvSpPr/>
          <p:nvPr/>
        </p:nvSpPr>
        <p:spPr>
          <a:xfrm>
            <a:off x="3977640" y="3909060"/>
            <a:ext cx="160020" cy="77724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56" name="Shape 45"/>
          <p:cNvSpPr/>
          <p:nvPr/>
        </p:nvSpPr>
        <p:spPr>
          <a:xfrm>
            <a:off x="5875020" y="4686300"/>
            <a:ext cx="160020" cy="77724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57" name="Shape 46"/>
          <p:cNvSpPr/>
          <p:nvPr/>
        </p:nvSpPr>
        <p:spPr>
          <a:xfrm flipV="1">
            <a:off x="7772400" y="4686300"/>
            <a:ext cx="160020" cy="77724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58" name="Shape 47"/>
          <p:cNvSpPr/>
          <p:nvPr/>
        </p:nvSpPr>
        <p:spPr>
          <a:xfrm flipV="1">
            <a:off x="9669780" y="3909060"/>
            <a:ext cx="160020" cy="77724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59" name="Text 4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I: Problem Statement — Vehicle Rental Management Information System</a:t>
            </a:r>
            <a:endParaRPr lang="en-US" sz="900" dirty="0"/>
          </a:p>
        </p:txBody>
      </p:sp>
      <p:sp>
        <p:nvSpPr>
          <p:cNvPr id="60" name="Text 4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2026-07-26T02:01:35Z</dcterms:created>
  <dcterms:modified xsi:type="dcterms:W3CDTF">2026-07-26T02:01:35Z</dcterms:modified>
</cp:coreProperties>
</file>